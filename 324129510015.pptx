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rimson Pro Bold"/>
      <p:regular r:id="rId14"/>
      <p:bold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  <p:embeddedFont>
      <p:font typeface="Open Sans Bold" pitchFamily="2" charset="0"/>
      <p:regular r:id="rId20"/>
      <p:bold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345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D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CF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9345"/>
            <a:ext cx="10868745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AI-Driven Campus Placement Registration and Resume Matching Platform with Job Recommendation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56682" y="1667867"/>
            <a:ext cx="1147833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Automating student registration, resume analysis, candidate-job matching, and personalized job recommendations through Artificial Intelligence and Machine Learning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977430"/>
            <a:ext cx="8694917" cy="42511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54333" y="2313315"/>
            <a:ext cx="1876180" cy="241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Student Registration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954333" y="2623560"/>
            <a:ext cx="1876180" cy="347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onboarding and profile capture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53901" y="2313315"/>
            <a:ext cx="1876180" cy="241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Resume Analysis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353901" y="2623560"/>
            <a:ext cx="1876180" cy="347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AI-driven parsing and skill extraction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54333" y="4549704"/>
            <a:ext cx="1876180" cy="4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Candidate-Job Matching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954333" y="5101489"/>
            <a:ext cx="1876180" cy="347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 fit scoring and ranking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345179" y="4549704"/>
            <a:ext cx="1876180" cy="4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Job Recommendation Engine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45179" y="5101489"/>
            <a:ext cx="1876180" cy="347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role suggestions for students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5908EF-04C7-5F57-14E2-7B68ED988CA3}"/>
              </a:ext>
            </a:extLst>
          </p:cNvPr>
          <p:cNvSpPr txBox="1"/>
          <p:nvPr/>
        </p:nvSpPr>
        <p:spPr>
          <a:xfrm>
            <a:off x="1748388" y="5966946"/>
            <a:ext cx="2082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DANDI MOUNIKA</a:t>
            </a:r>
            <a:b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324129510015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219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Introduction: Campus Placement Management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54321" y="1428254"/>
            <a:ext cx="5467114" cy="1299567"/>
          </a:xfrm>
          <a:prstGeom prst="roundRect">
            <a:avLst>
              <a:gd name="adj" fmla="val 8247"/>
            </a:avLst>
          </a:prstGeom>
          <a:solidFill>
            <a:srgbClr val="835E54"/>
          </a:solidFill>
          <a:ln/>
        </p:spPr>
      </p:sp>
      <p:sp>
        <p:nvSpPr>
          <p:cNvPr id="4" name="Text 2"/>
          <p:cNvSpPr/>
          <p:nvPr/>
        </p:nvSpPr>
        <p:spPr>
          <a:xfrm>
            <a:off x="703146" y="1562199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What is Campus Placement?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03146" y="1928614"/>
            <a:ext cx="5169465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structured process connecting students with recruiters through registration, resume screening, eligibility verification, and job matching — coordinated by institutional placement cells.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83763" y="1562199"/>
            <a:ext cx="525280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Why Automation Matters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83763" y="1928614"/>
            <a:ext cx="525280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processes are time-consuming, human-dependent, and inconsistent. AI and NLP enable automated resume parsing, skill extraction, eligibility verification, and intelligent job recommendations at scale.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61475" y="2878534"/>
            <a:ext cx="5367402" cy="1075630"/>
          </a:xfrm>
          <a:prstGeom prst="roundRect">
            <a:avLst>
              <a:gd name="adj" fmla="val 581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6649" y="3033713"/>
            <a:ext cx="50570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Student Registration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16649" y="3346549"/>
            <a:ext cx="50570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Tracks placement participation and maintains centralized candidate information across departments.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62818" y="2878534"/>
            <a:ext cx="5367402" cy="1075630"/>
          </a:xfrm>
          <a:prstGeom prst="roundRect">
            <a:avLst>
              <a:gd name="adj" fmla="val 581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17993" y="3033713"/>
            <a:ext cx="50570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Resume Screening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17993" y="3346549"/>
            <a:ext cx="50570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relevant skills, qualifications, and experience from candidate profiles systematically.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1475" y="4088110"/>
            <a:ext cx="5367402" cy="1075630"/>
          </a:xfrm>
          <a:prstGeom prst="roundRect">
            <a:avLst>
              <a:gd name="adj" fmla="val 581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649" y="4243288"/>
            <a:ext cx="50570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Eligibility Verification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16649" y="4556125"/>
            <a:ext cx="50570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Ensures candidates meet academic and professional requirements specified by recruiters.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62818" y="4088110"/>
            <a:ext cx="5367402" cy="1075630"/>
          </a:xfrm>
          <a:prstGeom prst="roundRect">
            <a:avLst>
              <a:gd name="adj" fmla="val 581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7993" y="4243288"/>
            <a:ext cx="5057053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Job Matching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17993" y="4556125"/>
            <a:ext cx="5057053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Aligns student capabilities with recruiter requirements to identify suitable opportunities.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1475" y="5314454"/>
            <a:ext cx="10868745" cy="781348"/>
          </a:xfrm>
          <a:prstGeom prst="roundRect">
            <a:avLst>
              <a:gd name="adj" fmla="val 8001"/>
            </a:avLst>
          </a:prstGeom>
          <a:solidFill>
            <a:srgbClr val="EBE2E0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9" y="5507732"/>
            <a:ext cx="186031" cy="1488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45154" y="5485606"/>
            <a:ext cx="1023624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Role of AI and NLP: Automate resume parsing, extract skills, verify eligibility, and provide intelligent job recommendations at scale — overcoming the core limitations of manual placement processes.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4266"/>
            <a:ext cx="10868745" cy="48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Problem Identification: Challenges in Traditional Placement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37171"/>
            <a:ext cx="5245763" cy="1451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1301" y="1510804"/>
            <a:ext cx="482230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Registration &amp; Screening Bottlenecks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1301" y="1897063"/>
            <a:ext cx="48223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student registration is time-consuming and error-prone. Resume screening requires significant manual effort for large candidate pools, making it impractical without automated support.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33502"/>
            <a:ext cx="5245763" cy="14517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11301" y="3107134"/>
            <a:ext cx="482230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Inconsistent Evaluation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911301" y="3493393"/>
            <a:ext cx="48223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Manual eligibility verification is repetitive and inconsistent. Identifying suitable candidates manually is inefficient and subjective, leading to unreliable shortlisting outcomes.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529832"/>
            <a:ext cx="5245763" cy="14517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1301" y="4703465"/>
            <a:ext cx="482230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Skill Comparison Difficulty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911301" y="5089723"/>
            <a:ext cx="48223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Comparing student skills with job requirements efficiently is difficult without structured data. Relevant skills are buried in unstructured resume text with no automated extraction.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0807" y="1337171"/>
            <a:ext cx="5245763" cy="14517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540634" y="1510804"/>
            <a:ext cx="482230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Generic Recommendations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540634" y="1897063"/>
            <a:ext cx="48223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recommendations are generic rather than personalized. Traditional placement systems offer limited personalization, reducing the quality of opportunity discovery for students.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0807" y="2933502"/>
            <a:ext cx="5245763" cy="145176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540634" y="3107134"/>
            <a:ext cx="482230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Decentralized Information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540634" y="3493393"/>
            <a:ext cx="4822307" cy="71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Centralized placement information is difficult to maintain across departments, leading to fragmented records and coordination challenges for placement officers.</a:t>
            </a:r>
            <a:endParaRPr lang="en-US" sz="12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90807" y="4529832"/>
            <a:ext cx="5245763" cy="169118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540634" y="4703465"/>
            <a:ext cx="4822307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Limited Analytics</a:t>
            </a:r>
            <a:endParaRPr lang="en-US" sz="1500" dirty="0"/>
          </a:p>
        </p:txBody>
      </p:sp>
      <p:sp>
        <p:nvSpPr>
          <p:cNvPr id="20" name="Text 12"/>
          <p:cNvSpPr/>
          <p:nvPr/>
        </p:nvSpPr>
        <p:spPr>
          <a:xfrm>
            <a:off x="6540634" y="5089723"/>
            <a:ext cx="4822307" cy="957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2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systems provide limited analytics for data-driven placement decision-making, preventing institutions from identifying trends or improving placement outcomes systematically.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7483"/>
            <a:ext cx="10868745" cy="33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Existing System: Traditional Campus Placement Process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606" y="963513"/>
            <a:ext cx="5458383" cy="37616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03312" y="3304165"/>
            <a:ext cx="1491630" cy="1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Manual Registration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774393" y="1724519"/>
            <a:ext cx="1540089" cy="1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Resume Collection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808258" y="3766800"/>
            <a:ext cx="1491630" cy="198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Manual Screening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132324" y="2140348"/>
            <a:ext cx="1491630" cy="198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Eligibility Check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4801295"/>
            <a:ext cx="11478330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conventional placement workflow relies entirely on human effort at every stage — from collecting paper or email-based resumes to manually verifying eligibility criteria and maintaining spreadsheet records.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61475" y="5016202"/>
            <a:ext cx="2666437" cy="707727"/>
          </a:xfrm>
          <a:prstGeom prst="roundRect">
            <a:avLst>
              <a:gd name="adj" fmla="val 628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3589" y="5128320"/>
            <a:ext cx="2442208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Time-Intensive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3589" y="5334198"/>
            <a:ext cx="2442208" cy="27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Labor-intensive processes at every stage slow down placement cycles significantly.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395578" y="5016202"/>
            <a:ext cx="2666437" cy="707727"/>
          </a:xfrm>
          <a:prstGeom prst="roundRect">
            <a:avLst>
              <a:gd name="adj" fmla="val 628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07692" y="5128320"/>
            <a:ext cx="2442208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Human-Dependent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507692" y="5334198"/>
            <a:ext cx="2442208" cy="27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Evaluation quality varies by reviewer, introducing inconsistency in candidate assessment.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129680" y="5016202"/>
            <a:ext cx="2666437" cy="707727"/>
          </a:xfrm>
          <a:prstGeom prst="roundRect">
            <a:avLst>
              <a:gd name="adj" fmla="val 628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41795" y="5128320"/>
            <a:ext cx="2442208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Volume Constraints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41795" y="5334198"/>
            <a:ext cx="2442208" cy="27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Processing large resume volumes efficiently is not feasible without automated tooling.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8863783" y="5016202"/>
            <a:ext cx="2666437" cy="707727"/>
          </a:xfrm>
          <a:prstGeom prst="roundRect">
            <a:avLst>
              <a:gd name="adj" fmla="val 628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75897" y="5128320"/>
            <a:ext cx="2442208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 Personalization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975897" y="5334198"/>
            <a:ext cx="2442208" cy="277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personalized job recommendations; candidates receive generic opportunity lists.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61475" y="5791597"/>
            <a:ext cx="5400540" cy="568920"/>
          </a:xfrm>
          <a:prstGeom prst="roundRect">
            <a:avLst>
              <a:gd name="adj" fmla="val 781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3589" y="5903714"/>
            <a:ext cx="5176311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Fragmented Data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73589" y="6109593"/>
            <a:ext cx="517631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Recruitment information is decentralized across multiple systems and departments.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129680" y="5791597"/>
            <a:ext cx="5400540" cy="568920"/>
          </a:xfrm>
          <a:prstGeom prst="roundRect">
            <a:avLst>
              <a:gd name="adj" fmla="val 7812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41795" y="5903714"/>
            <a:ext cx="5176311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No Real-Time Insights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41795" y="6109593"/>
            <a:ext cx="5176311" cy="138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real-time placement analytics prevents data-driven institutional decision-making.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141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Proposed System: AI-Driven Placement Platform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06302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Core Advantage: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centralized, intelligent platform automating the entire placement workflow — from student registration through personalized job recommendations — serving students, placement officers, and recruiters through role-specific dashboards.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0274" y="1756767"/>
            <a:ext cx="5465328" cy="1957487"/>
          </a:xfrm>
          <a:prstGeom prst="roundRect">
            <a:avLst>
              <a:gd name="adj" fmla="val 5171"/>
            </a:avLst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700765" y="1876227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Student-Facing Components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0765" y="2215257"/>
            <a:ext cx="5184348" cy="1457226"/>
          </a:xfrm>
          <a:prstGeom prst="rect">
            <a:avLst/>
          </a:prstGeom>
          <a:noFill/>
          <a:ln/>
        </p:spPr>
        <p:txBody>
          <a:bodyPr wrap="square" lIns="0" tIns="56233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student registration and profile creation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upload and automated parsing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NLP-based text processing and skill extraction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information and certification analysis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experience analysis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job recommendation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73643" y="1876227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Institutional &amp; Recruiter Components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73643" y="2215257"/>
            <a:ext cx="5262927" cy="1207393"/>
          </a:xfrm>
          <a:prstGeom prst="rect">
            <a:avLst/>
          </a:prstGeom>
          <a:noFill/>
          <a:ln/>
        </p:spPr>
        <p:txBody>
          <a:bodyPr wrap="square" lIns="0" tIns="56233" rIns="0" bIns="0" rtlCol="0" anchor="t">
            <a:normAutofit/>
          </a:bodyPr>
          <a:lstStyle/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Recruiter requirement analysis and job posting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eligibility verification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Resume-job matching with matching score generation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dashboards for all stakeholder roles</a:t>
            </a:r>
            <a:endParaRPr lang="en-US" sz="1100" dirty="0"/>
          </a:p>
          <a:p>
            <a:pPr marL="223520" indent="-223520" algn="l">
              <a:lnSpc>
                <a:spcPct val="123000"/>
              </a:lnSpc>
              <a:buSzPct val="100000"/>
              <a:buChar char="•"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placement and recruitment analytics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1475" y="3848596"/>
            <a:ext cx="5374644" cy="421680"/>
          </a:xfrm>
          <a:prstGeom prst="roundRect">
            <a:avLst>
              <a:gd name="adj" fmla="val 49999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3380" y="3927673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01965" y="4389735"/>
            <a:ext cx="50936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Register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01965" y="4680942"/>
            <a:ext cx="509366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registers and creates profile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55576" y="3848596"/>
            <a:ext cx="5374644" cy="421680"/>
          </a:xfrm>
          <a:prstGeom prst="roundRect">
            <a:avLst>
              <a:gd name="adj" fmla="val 49999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7481" y="3927673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296066" y="4389735"/>
            <a:ext cx="50936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Parse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296066" y="4680942"/>
            <a:ext cx="509366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Resume uploaded and parsed via NLP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1475" y="5148957"/>
            <a:ext cx="5374644" cy="421680"/>
          </a:xfrm>
          <a:prstGeom prst="roundRect">
            <a:avLst>
              <a:gd name="adj" fmla="val 49999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3380" y="5228034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01965" y="5690096"/>
            <a:ext cx="50936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Match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01965" y="5981303"/>
            <a:ext cx="509366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Skills matched against job requirements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55576" y="5148957"/>
            <a:ext cx="5374644" cy="421680"/>
          </a:xfrm>
          <a:prstGeom prst="roundRect">
            <a:avLst>
              <a:gd name="adj" fmla="val 49999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37481" y="5228034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4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296066" y="5690096"/>
            <a:ext cx="50936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Recommend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96066" y="5981303"/>
            <a:ext cx="5093664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job recommendations delivered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727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 and Data 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212354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Complete Processing Pipeline:</a:t>
            </a: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Each stage processes student and job data to create structured candidate profiles, compare them with job requirements, generate matching scores, and deliver personalized recommendations through role-specific dashboards.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12416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61475" y="1918097"/>
            <a:ext cx="5381490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2022277"/>
            <a:ext cx="53814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Student Registration → Profile Creation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292449"/>
            <a:ext cx="53814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submits registration details; system creates a structured candidate profile for downstream processing.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48730" y="1712416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48730" y="1918097"/>
            <a:ext cx="5381490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0" name="Text 8"/>
          <p:cNvSpPr/>
          <p:nvPr/>
        </p:nvSpPr>
        <p:spPr>
          <a:xfrm>
            <a:off x="6148730" y="2022277"/>
            <a:ext cx="53814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Resume Upload → Resume Parsing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48730" y="2292449"/>
            <a:ext cx="53814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uploads resume document; parser extracts raw text content for NLP processing.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61475" y="287843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1475" y="3084116"/>
            <a:ext cx="5381490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4" name="Text 12"/>
          <p:cNvSpPr/>
          <p:nvPr/>
        </p:nvSpPr>
        <p:spPr>
          <a:xfrm>
            <a:off x="661475" y="3188295"/>
            <a:ext cx="53814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NLP Text Processing → Skill &amp; Qualification Extraction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3458468"/>
            <a:ext cx="53814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Natural Language Processing converts unstructured resume text into structured skill, certification, and experience data.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48730" y="2878435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48730" y="3084116"/>
            <a:ext cx="5381490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18" name="Text 16"/>
          <p:cNvSpPr/>
          <p:nvPr/>
        </p:nvSpPr>
        <p:spPr>
          <a:xfrm>
            <a:off x="6148730" y="3188295"/>
            <a:ext cx="53814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Eligibility Verification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48730" y="3458468"/>
            <a:ext cx="53814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Extracted academic and qualification data is compared against recruiter-defined eligibility criteria automatically.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1475" y="404445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1475" y="4250134"/>
            <a:ext cx="5381490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2" name="Text 20"/>
          <p:cNvSpPr/>
          <p:nvPr/>
        </p:nvSpPr>
        <p:spPr>
          <a:xfrm>
            <a:off x="661475" y="4354314"/>
            <a:ext cx="53814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Recruiter Job Requirements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1475" y="4624487"/>
            <a:ext cx="53814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Recruiter-submitted job descriptions are analyzed to identify required skills, qualifications, and experience levels.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48730" y="4044454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06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8730" y="4250134"/>
            <a:ext cx="5381490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26" name="Text 24"/>
          <p:cNvSpPr/>
          <p:nvPr/>
        </p:nvSpPr>
        <p:spPr>
          <a:xfrm>
            <a:off x="6148730" y="4354314"/>
            <a:ext cx="53814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Candidate-Job Matching → Score Generation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48730" y="4624487"/>
            <a:ext cx="53814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Matching algorithm compares candidate profiles with job requirements and generates a numerical matching score.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1475" y="521047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07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1475" y="5416153"/>
            <a:ext cx="5381490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5520333"/>
            <a:ext cx="53814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Job Recommendation Engine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1475" y="5790505"/>
            <a:ext cx="53814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Recommendation engine ranks and presents personalized job opportunities based on candidate profile alignment.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48730" y="5210473"/>
            <a:ext cx="264610" cy="1652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148730" y="5416153"/>
            <a:ext cx="5381490" cy="19050"/>
          </a:xfrm>
          <a:prstGeom prst="rect">
            <a:avLst/>
          </a:prstGeom>
          <a:solidFill>
            <a:srgbClr val="835E54"/>
          </a:solidFill>
          <a:ln/>
        </p:spPr>
      </p:sp>
      <p:sp>
        <p:nvSpPr>
          <p:cNvPr id="34" name="Text 32"/>
          <p:cNvSpPr/>
          <p:nvPr/>
        </p:nvSpPr>
        <p:spPr>
          <a:xfrm>
            <a:off x="6148730" y="5520333"/>
            <a:ext cx="5381490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Interactive Dashboards &amp; Analytics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148730" y="5790505"/>
            <a:ext cx="53814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Role-specific dashboards for students, placement officers, and recruiters; comprehensive placement analytics and reporting.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035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Resume Processing and Skill Extraction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61475" y="1383804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7234" y="1411635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130272" y="1434902"/>
            <a:ext cx="478401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Resume Upload and Parsing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130272" y="1801316"/>
            <a:ext cx="478401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Students upload resumes; the system extracts text and processes content automatically to identify skills, certifications, and project experience without manual intervention.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1475" y="2747863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234" y="2775694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30272" y="2798961"/>
            <a:ext cx="478401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Natural Language Processing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30272" y="3165376"/>
            <a:ext cx="478401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Processes unstructured resume text to identify relevant words, phrases, technical skills, project experience, and certifications. Converts resume content into structured, queryable information.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61475" y="4111923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234" y="4139754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130272" y="4163020"/>
            <a:ext cx="478401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Skill Extraction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130272" y="4529435"/>
            <a:ext cx="478401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Identifies skills mentioned in resumes, organizes them into structured profiles, and compares with recruiter requirements to identify both matching and missing skills for each candidate.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83763" y="1383804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39523" y="1411635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752560" y="1434902"/>
            <a:ext cx="478401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Academic and Certification Analysis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752560" y="1801316"/>
            <a:ext cx="478401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student academic information, certifications, and qualifications extracted from resumes. Compares these structured records with job eligibility requirements defined by recruiters.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83763" y="2747863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9523" y="2775694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6752560" y="2798961"/>
            <a:ext cx="478401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Eligibility Verification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752560" y="3165376"/>
            <a:ext cx="478401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student academic information and compares relevant qualifications with job requirements to identify potentially eligible opportunities — replacing repetitive manual verification steps.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283763" y="4111923"/>
            <a:ext cx="334855" cy="334863"/>
          </a:xfrm>
          <a:prstGeom prst="roundRect">
            <a:avLst>
              <a:gd name="adj" fmla="val 18670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39523" y="4139754"/>
            <a:ext cx="223237" cy="279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6752560" y="4163020"/>
            <a:ext cx="4784010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Structured Profile Output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752560" y="4529435"/>
            <a:ext cx="478401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extracted data — skills, certifications, academic records, project experience — is consolidated into a structured candidate profile used by the matching and recommendation engine.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1475" y="5509518"/>
            <a:ext cx="10868745" cy="781348"/>
          </a:xfrm>
          <a:prstGeom prst="roundRect">
            <a:avLst>
              <a:gd name="adj" fmla="val 8001"/>
            </a:avLst>
          </a:prstGeom>
          <a:solidFill>
            <a:srgbClr val="B6D6FC"/>
          </a:solidFill>
          <a:ln/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99" y="5702796"/>
            <a:ext cx="186031" cy="14882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45154" y="5680670"/>
            <a:ext cx="10236242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 is the core enabling technology: it bridges the gap between unstructured resume text and the structured data required for automated matching and recommendation.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012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Candidate-Job Matching and Recommendation Engine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48172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matching and recommendation subsystem is the intelligence core of the platform, combining structured candidate profiles with job requirement data to generate scores and ranked recommendations.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60274" y="1798638"/>
            <a:ext cx="5465328" cy="2480866"/>
          </a:xfrm>
          <a:prstGeom prst="roundRect">
            <a:avLst>
              <a:gd name="adj" fmla="val 4080"/>
            </a:avLst>
          </a:prstGeom>
          <a:solidFill>
            <a:srgbClr val="835E54"/>
          </a:solidFill>
          <a:ln/>
        </p:spPr>
      </p:sp>
      <p:sp>
        <p:nvSpPr>
          <p:cNvPr id="5" name="Text 3"/>
          <p:cNvSpPr/>
          <p:nvPr/>
        </p:nvSpPr>
        <p:spPr>
          <a:xfrm>
            <a:off x="700765" y="1918097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Matching Process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00765" y="2257127"/>
            <a:ext cx="5184348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Combines student resume, profile, extracted skills, academic information, certifications, and project experience into a unified candidate profile. Compares this profile with job requirements using a matching algorithm to produce a </a:t>
            </a:r>
            <a:r>
              <a:rPr lang="en-US" sz="11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Matching Score</a:t>
            </a: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 numerical representation of the degree of similarity between candidate and job requirement.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Higher scores indicate stronger alignment. Matching scores help students identify suitable opportunities and help recruiters identify the most relevant candidates efficiently.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73643" y="1918097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Job Recommendation Engine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73643" y="2257127"/>
            <a:ext cx="5262927" cy="832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student profiles, extracted skills, academic qualifications, certifications, and project experience. Compares these against available job opportunities and ranks them to present </a:t>
            </a: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personalized job recommendations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ordered by relevance.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73643" y="3208834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Machine Learning Approach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73643" y="3547864"/>
            <a:ext cx="526292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Analyzes relationships between student profiles and job requirements; improves matching accuracy over time; supports recommendation ranking; identifies patterns in placement data.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1475" y="4413845"/>
            <a:ext cx="2627544" cy="1026418"/>
          </a:xfrm>
          <a:prstGeom prst="roundRect">
            <a:avLst>
              <a:gd name="adj" fmla="val 5752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015" y="4573389"/>
            <a:ext cx="23084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Classification Algorithms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1015" y="4864596"/>
            <a:ext cx="230846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Possible technique for eligibility and suitability classification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08476" y="4413845"/>
            <a:ext cx="2627644" cy="1026418"/>
          </a:xfrm>
          <a:prstGeom prst="roundRect">
            <a:avLst>
              <a:gd name="adj" fmla="val 5752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8015" y="4573389"/>
            <a:ext cx="23085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Similarity-Based Matching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68015" y="4864596"/>
            <a:ext cx="23085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Possible technique for profile-to-job comparison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55576" y="4413845"/>
            <a:ext cx="2627544" cy="1026418"/>
          </a:xfrm>
          <a:prstGeom prst="roundRect">
            <a:avLst>
              <a:gd name="adj" fmla="val 5752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5115" y="4573389"/>
            <a:ext cx="230846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Recommendation Algorithms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15115" y="4864596"/>
            <a:ext cx="230846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Possible technique for personalized job ranking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02577" y="4413845"/>
            <a:ext cx="2627644" cy="1026418"/>
          </a:xfrm>
          <a:prstGeom prst="roundRect">
            <a:avLst>
              <a:gd name="adj" fmla="val 5752"/>
            </a:avLst>
          </a:prstGeom>
          <a:solidFill>
            <a:srgbClr val="FFFCFA"/>
          </a:solidFill>
          <a:ln w="19050">
            <a:solidFill>
              <a:srgbClr val="D1C8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62116" y="4573389"/>
            <a:ext cx="230856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Clustering Techniques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062116" y="4864596"/>
            <a:ext cx="230856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Possible technique for grouping similar profiles or jobs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1475" y="5574605"/>
            <a:ext cx="10868745" cy="713284"/>
          </a:xfrm>
          <a:prstGeom prst="roundRect">
            <a:avLst>
              <a:gd name="adj" fmla="val 8278"/>
            </a:avLst>
          </a:prstGeom>
          <a:solidFill>
            <a:srgbClr val="FCF2B5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65" y="5745956"/>
            <a:ext cx="175712" cy="14049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8167" y="5729188"/>
            <a:ext cx="10271563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Important: Recommendations support placement decisions but do not guarantee job placement. The system is a decision-support tool, not a placement guarantee mechanism.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9581"/>
            <a:ext cx="10868745" cy="335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Users and Dashboards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661475" y="935236"/>
            <a:ext cx="3576350" cy="1410692"/>
          </a:xfrm>
          <a:prstGeom prst="roundRect">
            <a:avLst>
              <a:gd name="adj" fmla="val 320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5276" y="1049040"/>
            <a:ext cx="334874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👨‍🎓</a:t>
            </a: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Students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75276" y="1258788"/>
            <a:ext cx="3348747" cy="973336"/>
          </a:xfrm>
          <a:prstGeom prst="rect">
            <a:avLst/>
          </a:prstGeom>
          <a:noFill/>
          <a:ln/>
        </p:spPr>
        <p:txBody>
          <a:bodyPr wrap="square" lIns="0" tIns="43002" rIns="0" bIns="0" rtlCol="0" anchor="t">
            <a:normAutofit/>
          </a:bodyPr>
          <a:lstStyle/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Register for placement and create profiles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Upload resumes for automated parsing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matching scores for applied opportunities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Receive personalized job recommendations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suitable opportunities and job requirements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placement registration status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307673" y="935236"/>
            <a:ext cx="3576350" cy="1410692"/>
          </a:xfrm>
          <a:prstGeom prst="roundRect">
            <a:avLst>
              <a:gd name="adj" fmla="val 320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21474" y="1049040"/>
            <a:ext cx="334874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🏫</a:t>
            </a: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Placement Officers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21474" y="1258788"/>
            <a:ext cx="3348747" cy="973336"/>
          </a:xfrm>
          <a:prstGeom prst="rect">
            <a:avLst/>
          </a:prstGeom>
          <a:noFill/>
          <a:ln/>
        </p:spPr>
        <p:txBody>
          <a:bodyPr wrap="square" lIns="0" tIns="43002" rIns="0" bIns="0" rtlCol="0" anchor="t">
            <a:normAutofit/>
          </a:bodyPr>
          <a:lstStyle/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Manage student registrations centrally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placement activities and participation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placement statistics and analytics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candidate-job matching outcomes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recruitment analytics and reports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Support placement coordination across departments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953871" y="935236"/>
            <a:ext cx="3576350" cy="1410692"/>
          </a:xfrm>
          <a:prstGeom prst="roundRect">
            <a:avLst>
              <a:gd name="adj" fmla="val 3201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67672" y="1049040"/>
            <a:ext cx="334874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🏢</a:t>
            </a:r>
            <a:r>
              <a:rPr lang="en-US" sz="1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 Recruiters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67672" y="1258788"/>
            <a:ext cx="3348747" cy="807045"/>
          </a:xfrm>
          <a:prstGeom prst="rect">
            <a:avLst/>
          </a:prstGeom>
          <a:noFill/>
          <a:ln/>
        </p:spPr>
        <p:txBody>
          <a:bodyPr wrap="square" lIns="0" tIns="43002" rIns="0" bIns="0" rtlCol="0" anchor="t">
            <a:normAutofit/>
          </a:bodyPr>
          <a:lstStyle/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Submit job requirements and define required skills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Review matched candidates automatically surfaced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View and analyze candidate profiles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Analyze matching scores for shortlisting</a:t>
            </a:r>
            <a:endParaRPr lang="en-US" sz="800" dirty="0"/>
          </a:p>
          <a:p>
            <a:pPr marL="162560" indent="-162560" algn="l">
              <a:lnSpc>
                <a:spcPct val="110000"/>
              </a:lnSpc>
              <a:buSzPct val="100000"/>
              <a:buChar char="•"/>
            </a:pPr>
            <a:r>
              <a:rPr lang="en-US" sz="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suitable candidates efficiently</a:t>
            </a:r>
            <a:endParaRPr lang="en-US" sz="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24509"/>
            <a:ext cx="7064595" cy="39739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8000"/>
            <a:ext cx="10868745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Advantages, Applications, and Future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114822"/>
            <a:ext cx="528544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Key Advantages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214" y="1412925"/>
            <a:ext cx="183153" cy="183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8241" y="1406922"/>
            <a:ext cx="4888683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Automation: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Automated registration, resume parsing, eligibility verification, and matching reduce manual effort significantly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214" y="1965573"/>
            <a:ext cx="183153" cy="18315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8241" y="1959570"/>
            <a:ext cx="4888683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Intelligence: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NLP-based analysis, skill extraction, and ML-driven matching improve accuracy and consistency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214" y="2518221"/>
            <a:ext cx="183153" cy="18315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8241" y="2512219"/>
            <a:ext cx="488868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Personalization: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Personalized job recommendations replace generic opportunity lists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214" y="3070870"/>
            <a:ext cx="183153" cy="1831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8241" y="3064867"/>
            <a:ext cx="488868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Centralization: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Unified platform for all placement data, analytics, and coordination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7214" y="3623518"/>
            <a:ext cx="183153" cy="18315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8241" y="3617516"/>
            <a:ext cx="4888683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Scalability: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Architecture supports multiple institutions and increasing job volumes</a:t>
            </a:r>
            <a:endParaRPr lang="en-US" sz="950" dirty="0"/>
          </a:p>
        </p:txBody>
      </p:sp>
      <p:sp>
        <p:nvSpPr>
          <p:cNvPr id="14" name="Text 7"/>
          <p:cNvSpPr/>
          <p:nvPr/>
        </p:nvSpPr>
        <p:spPr>
          <a:xfrm>
            <a:off x="6251121" y="1114822"/>
            <a:ext cx="528544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Applications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251121" y="1395611"/>
            <a:ext cx="5285449" cy="773708"/>
          </a:xfrm>
          <a:prstGeom prst="rect">
            <a:avLst/>
          </a:prstGeom>
          <a:noFill/>
          <a:ln/>
        </p:spPr>
        <p:txBody>
          <a:bodyPr wrap="square" lIns="0" tIns="48842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Colleges and universities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Institutional placement cells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Recruitment agencies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Corporate recruitment organizations</a:t>
            </a:r>
            <a:endParaRPr lang="en-US" sz="950" dirty="0"/>
          </a:p>
        </p:txBody>
      </p:sp>
      <p:sp>
        <p:nvSpPr>
          <p:cNvPr id="16" name="Text 9"/>
          <p:cNvSpPr/>
          <p:nvPr/>
        </p:nvSpPr>
        <p:spPr>
          <a:xfrm>
            <a:off x="6251121" y="2259409"/>
            <a:ext cx="528544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Expected Outcomes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251121" y="2540198"/>
            <a:ext cx="5285449" cy="773708"/>
          </a:xfrm>
          <a:prstGeom prst="rect">
            <a:avLst/>
          </a:prstGeom>
          <a:noFill/>
          <a:ln/>
        </p:spPr>
        <p:txBody>
          <a:bodyPr wrap="square" lIns="0" tIns="48842" rIns="0" bIns="0" rtlCol="0" anchor="t">
            <a:normAutofit/>
          </a:bodyPr>
          <a:lstStyle/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Faster registration and reduced manual screening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matching accuracy and better recommendations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Improved coordination and enhanced analytics</a:t>
            </a:r>
            <a:endParaRPr lang="en-US" sz="950" dirty="0"/>
          </a:p>
          <a:p>
            <a:pPr marL="193040" indent="-193040" algn="l">
              <a:lnSpc>
                <a:spcPct val="116000"/>
              </a:lnSpc>
              <a:buSzPct val="100000"/>
              <a:buChar char="•"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Easier candidate identification and opportunity discovery</a:t>
            </a:r>
            <a:endParaRPr lang="en-US" sz="950" dirty="0"/>
          </a:p>
        </p:txBody>
      </p:sp>
      <p:sp>
        <p:nvSpPr>
          <p:cNvPr id="18" name="Text 11"/>
          <p:cNvSpPr/>
          <p:nvPr/>
        </p:nvSpPr>
        <p:spPr>
          <a:xfrm>
            <a:off x="661475" y="4226421"/>
            <a:ext cx="10868745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Future Enhancements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661475" y="4552255"/>
            <a:ext cx="2649570" cy="1023541"/>
          </a:xfrm>
          <a:prstGeom prst="roundRect">
            <a:avLst>
              <a:gd name="adj" fmla="val 5010"/>
            </a:avLst>
          </a:prstGeom>
          <a:solidFill>
            <a:srgbClr val="FFFCFA"/>
          </a:solidFill>
          <a:ln w="12700">
            <a:solidFill>
              <a:srgbClr val="D1C8C6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796211" y="4686995"/>
            <a:ext cx="238009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Advanced Semantic Matching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796211" y="4931767"/>
            <a:ext cx="2380099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Transformer-based NLP for deeper semantic understanding of resumes and job descriptions</a:t>
            </a:r>
            <a:endParaRPr lang="en-US" sz="950" dirty="0"/>
          </a:p>
        </p:txBody>
      </p:sp>
      <p:sp>
        <p:nvSpPr>
          <p:cNvPr id="22" name="Shape 15"/>
          <p:cNvSpPr/>
          <p:nvPr/>
        </p:nvSpPr>
        <p:spPr>
          <a:xfrm>
            <a:off x="3401134" y="4552255"/>
            <a:ext cx="2649670" cy="1023541"/>
          </a:xfrm>
          <a:prstGeom prst="roundRect">
            <a:avLst>
              <a:gd name="adj" fmla="val 5010"/>
            </a:avLst>
          </a:prstGeom>
          <a:solidFill>
            <a:srgbClr val="FFFCFA"/>
          </a:solidFill>
          <a:ln w="12700">
            <a:solidFill>
              <a:srgbClr val="D1C8C6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3535869" y="4686995"/>
            <a:ext cx="238019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Skill-Gap Analysis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535869" y="4931767"/>
            <a:ext cx="2380198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missing skills and provide targeted learning recommendations to candidates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140892" y="4552255"/>
            <a:ext cx="2649570" cy="1023541"/>
          </a:xfrm>
          <a:prstGeom prst="roundRect">
            <a:avLst>
              <a:gd name="adj" fmla="val 5010"/>
            </a:avLst>
          </a:prstGeom>
          <a:solidFill>
            <a:srgbClr val="FFFCFA"/>
          </a:solidFill>
          <a:ln w="12700">
            <a:solidFill>
              <a:srgbClr val="D1C8C6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6275627" y="4686995"/>
            <a:ext cx="2380099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Interview Preparation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275627" y="4931767"/>
            <a:ext cx="2380099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interview preparation recommendations based on matched job requirements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8880550" y="4552255"/>
            <a:ext cx="2649670" cy="1023541"/>
          </a:xfrm>
          <a:prstGeom prst="roundRect">
            <a:avLst>
              <a:gd name="adj" fmla="val 5010"/>
            </a:avLst>
          </a:prstGeom>
          <a:solidFill>
            <a:srgbClr val="FFFCFA"/>
          </a:solidFill>
          <a:ln w="12700">
            <a:solidFill>
              <a:srgbClr val="D1C8C6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9015286" y="4686995"/>
            <a:ext cx="2380198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Recruiter Chatbot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9015286" y="4931767"/>
            <a:ext cx="2380198" cy="509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Conversational interface for recruiters to query candidate pools and placement data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661475" y="5665887"/>
            <a:ext cx="5389328" cy="684014"/>
          </a:xfrm>
          <a:prstGeom prst="roundRect">
            <a:avLst>
              <a:gd name="adj" fmla="val 7498"/>
            </a:avLst>
          </a:prstGeom>
          <a:solidFill>
            <a:srgbClr val="FFFCFA"/>
          </a:solidFill>
          <a:ln w="12700">
            <a:solidFill>
              <a:srgbClr val="D1C8C6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96211" y="5800626"/>
            <a:ext cx="5119857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Job Market Trends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796211" y="6045398"/>
            <a:ext cx="5119857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Job market trend analysis and multi-language support for broader institutional reach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140892" y="5665887"/>
            <a:ext cx="5389328" cy="684014"/>
          </a:xfrm>
          <a:prstGeom prst="roundRect">
            <a:avLst>
              <a:gd name="adj" fmla="val 7498"/>
            </a:avLst>
          </a:prstGeom>
          <a:solidFill>
            <a:srgbClr val="FFFCFA"/>
          </a:solidFill>
          <a:ln w="12700">
            <a:solidFill>
              <a:srgbClr val="D1C8C6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275627" y="5800626"/>
            <a:ext cx="5119857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Platform Integration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6275627" y="6045398"/>
            <a:ext cx="5119857" cy="169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with professional job platforms for expanded opportunity discovery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455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Conclusion: Intelligent Campus Placement Management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204615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AI-Driven Campus Placement Registration and Resume Matching Platform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provides a modern, intelligent solution to campus placement challenges by integrating six core capabilities into a unified system: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755080"/>
            <a:ext cx="10868745" cy="2353469"/>
          </a:xfrm>
          <a:prstGeom prst="roundRect">
            <a:avLst>
              <a:gd name="adj" fmla="val 2509"/>
            </a:avLst>
          </a:prstGeom>
          <a:solidFill>
            <a:srgbClr val="EBE2E0"/>
          </a:solidFill>
          <a:ln w="6350">
            <a:solidFill>
              <a:srgbClr val="D1C8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1761430"/>
            <a:ext cx="5428023" cy="780256"/>
          </a:xfrm>
          <a:custGeom>
            <a:avLst/>
            <a:gdLst/>
            <a:ahLst/>
            <a:cxnLst/>
            <a:rect l="l" t="t" r="r" b="b"/>
            <a:pathLst>
              <a:path w="5428023" h="780256">
                <a:moveTo>
                  <a:pt x="49204" y="0"/>
                </a:moveTo>
                <a:lnTo>
                  <a:pt x="5428023" y="0"/>
                </a:lnTo>
                <a:lnTo>
                  <a:pt x="5428023" y="780256"/>
                </a:lnTo>
                <a:lnTo>
                  <a:pt x="0" y="780256"/>
                </a:lnTo>
                <a:lnTo>
                  <a:pt x="0" y="49205"/>
                </a:lnTo>
                <a:arcTo wR="49204" hR="49205" stAng="10800000" swAng="5400000"/>
                <a:close/>
              </a:path>
            </a:pathLst>
          </a:custGeom>
          <a:solidFill>
            <a:srgbClr val="EBE2E0"/>
          </a:solidFill>
          <a:ln/>
        </p:spPr>
      </p:sp>
      <p:sp>
        <p:nvSpPr>
          <p:cNvPr id="6" name="Text 4"/>
          <p:cNvSpPr/>
          <p:nvPr/>
        </p:nvSpPr>
        <p:spPr>
          <a:xfrm>
            <a:off x="808315" y="1901924"/>
            <a:ext cx="514704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Automated Registration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08315" y="2193131"/>
            <a:ext cx="514704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Student registration and profile management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95848" y="1761430"/>
            <a:ext cx="5428023" cy="780256"/>
          </a:xfrm>
          <a:custGeom>
            <a:avLst/>
            <a:gdLst/>
            <a:ahLst/>
            <a:cxnLst/>
            <a:rect l="l" t="t" r="r" b="b"/>
            <a:pathLst>
              <a:path w="5428023" h="780256">
                <a:moveTo>
                  <a:pt x="0" y="0"/>
                </a:moveTo>
                <a:lnTo>
                  <a:pt x="5378819" y="0"/>
                </a:lnTo>
                <a:arcTo wR="49204" hR="49205" stAng="16200000" swAng="5400000"/>
                <a:lnTo>
                  <a:pt x="5428023" y="780256"/>
                </a:lnTo>
                <a:lnTo>
                  <a:pt x="0" y="780256"/>
                </a:lnTo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1761430"/>
            <a:ext cx="19050" cy="780256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0" name="Text 8"/>
          <p:cNvSpPr/>
          <p:nvPr/>
        </p:nvSpPr>
        <p:spPr>
          <a:xfrm>
            <a:off x="6236338" y="1901924"/>
            <a:ext cx="514704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Resume Parsing &amp; NLP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36338" y="2193131"/>
            <a:ext cx="514704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parsing and natural language processing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825" y="2541687"/>
            <a:ext cx="5428023" cy="780256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67825" y="2541687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4" name="Text 12"/>
          <p:cNvSpPr/>
          <p:nvPr/>
        </p:nvSpPr>
        <p:spPr>
          <a:xfrm>
            <a:off x="808315" y="2682180"/>
            <a:ext cx="514704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Skill Extraction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8315" y="2973388"/>
            <a:ext cx="514704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 skill extraction and eligibility verification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95848" y="2541687"/>
            <a:ext cx="5428023" cy="780256"/>
          </a:xfrm>
          <a:prstGeom prst="rect">
            <a:avLst/>
          </a:prstGeom>
          <a:solidFill>
            <a:srgbClr val="EBE2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48" y="2541687"/>
            <a:ext cx="19050" cy="780256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5848" y="2541687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338" y="2682180"/>
            <a:ext cx="514704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ML-Based Matching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36338" y="2973388"/>
            <a:ext cx="514704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 candidate-job matching with scores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825" y="3321943"/>
            <a:ext cx="5428023" cy="780256"/>
          </a:xfrm>
          <a:custGeom>
            <a:avLst/>
            <a:gdLst/>
            <a:ahLst/>
            <a:cxnLst/>
            <a:rect l="l" t="t" r="r" b="b"/>
            <a:pathLst>
              <a:path w="5428023" h="780256">
                <a:moveTo>
                  <a:pt x="0" y="0"/>
                </a:moveTo>
                <a:lnTo>
                  <a:pt x="5428023" y="0"/>
                </a:lnTo>
                <a:lnTo>
                  <a:pt x="5428023" y="780256"/>
                </a:lnTo>
                <a:lnTo>
                  <a:pt x="49204" y="780256"/>
                </a:lnTo>
                <a:arcTo wR="49204" hR="49205" stAng="5400000" swAng="5400000"/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</p:sp>
      <p:sp>
        <p:nvSpPr>
          <p:cNvPr id="22" name="Shape 20"/>
          <p:cNvSpPr/>
          <p:nvPr/>
        </p:nvSpPr>
        <p:spPr>
          <a:xfrm>
            <a:off x="667825" y="3321943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23" name="Text 21"/>
          <p:cNvSpPr/>
          <p:nvPr/>
        </p:nvSpPr>
        <p:spPr>
          <a:xfrm>
            <a:off x="808315" y="3462437"/>
            <a:ext cx="514704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Recommendation Engine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08315" y="3753644"/>
            <a:ext cx="514704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Personalized job recommendation engine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95848" y="3321943"/>
            <a:ext cx="5428023" cy="780256"/>
          </a:xfrm>
          <a:custGeom>
            <a:avLst/>
            <a:gdLst/>
            <a:ahLst/>
            <a:cxnLst/>
            <a:rect l="l" t="t" r="r" b="b"/>
            <a:pathLst>
              <a:path w="5428023" h="780256">
                <a:moveTo>
                  <a:pt x="0" y="0"/>
                </a:moveTo>
                <a:lnTo>
                  <a:pt x="5428023" y="0"/>
                </a:lnTo>
                <a:lnTo>
                  <a:pt x="5428023" y="731051"/>
                </a:lnTo>
                <a:arcTo wR="49204" hR="49205" stAng="0" swAng="5400000"/>
                <a:lnTo>
                  <a:pt x="0" y="780256"/>
                </a:lnTo>
                <a:lnTo>
                  <a:pt x="0" y="0"/>
                </a:lnTo>
                <a:close/>
              </a:path>
            </a:pathLst>
          </a:custGeom>
          <a:solidFill>
            <a:srgbClr val="EBE2E0"/>
          </a:solidFill>
          <a:ln/>
        </p:spPr>
      </p:sp>
      <p:sp>
        <p:nvSpPr>
          <p:cNvPr id="26" name="Shape 24"/>
          <p:cNvSpPr/>
          <p:nvPr/>
        </p:nvSpPr>
        <p:spPr>
          <a:xfrm>
            <a:off x="6095848" y="3321943"/>
            <a:ext cx="19050" cy="780256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48" y="3321943"/>
            <a:ext cx="5428023" cy="19050"/>
          </a:xfrm>
          <a:prstGeom prst="roundRect">
            <a:avLst>
              <a:gd name="adj" fmla="val 49999"/>
            </a:avLst>
          </a:prstGeom>
          <a:solidFill>
            <a:srgbClr val="D1C8C6"/>
          </a:solidFill>
          <a:ln/>
        </p:spPr>
      </p:sp>
      <p:sp>
        <p:nvSpPr>
          <p:cNvPr id="28" name="Text 26"/>
          <p:cNvSpPr/>
          <p:nvPr/>
        </p:nvSpPr>
        <p:spPr>
          <a:xfrm>
            <a:off x="6236338" y="3462437"/>
            <a:ext cx="514704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Analytics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236338" y="3753644"/>
            <a:ext cx="5147042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placement and recruitment analytics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60274" y="4242891"/>
            <a:ext cx="5465328" cy="2088654"/>
          </a:xfrm>
          <a:prstGeom prst="roundRect">
            <a:avLst>
              <a:gd name="adj" fmla="val 4846"/>
            </a:avLst>
          </a:prstGeom>
          <a:solidFill>
            <a:srgbClr val="835E54"/>
          </a:solidFill>
          <a:ln/>
        </p:spPr>
      </p:sp>
      <p:sp>
        <p:nvSpPr>
          <p:cNvPr id="31" name="Text 29"/>
          <p:cNvSpPr/>
          <p:nvPr/>
        </p:nvSpPr>
        <p:spPr>
          <a:xfrm>
            <a:off x="700765" y="4362351"/>
            <a:ext cx="518434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Overall Impact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00765" y="4701381"/>
            <a:ext cx="5184348" cy="1248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system improves resume matching accuracy, enhances recruitment efficiency, supports personalized job recommendations, and enables data-driven placement decision-making. By automating manual processes and providing intelligent insights, the platform helps </a:t>
            </a:r>
            <a:r>
              <a:rPr lang="en-US" sz="11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students</a:t>
            </a: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discover suitable opportunities, assists </a:t>
            </a:r>
            <a:r>
              <a:rPr lang="en-US" sz="11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recruiters</a:t>
            </a: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identifying relevant candidates, and enables </a:t>
            </a:r>
            <a:r>
              <a:rPr lang="en-US" sz="1100" b="1" dirty="0">
                <a:solidFill>
                  <a:srgbClr val="FFFFF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placement officers</a:t>
            </a:r>
            <a:r>
              <a:rPr lang="en-US" sz="11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manage placement activities more efficiently.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73643" y="4362351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Result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273643" y="4701381"/>
            <a:ext cx="5262927" cy="1147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</a:t>
            </a:r>
            <a:r>
              <a:rPr lang="en-US" sz="1100" b="1" dirty="0">
                <a:solidFill>
                  <a:srgbClr val="443728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secure, scalable, and intelligent</a:t>
            </a: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placement management solution suitable for educational institutions, recruitment agencies, and corporate organizations.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platform represents a meaningful advancement over traditional manual placement processes — bringing consistency, personalization, and analytical depth to campus recruitment at scale.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3643" y="5983486"/>
            <a:ext cx="1804843" cy="213717"/>
          </a:xfrm>
          <a:prstGeom prst="roundRect">
            <a:avLst>
              <a:gd name="adj" fmla="val 22102"/>
            </a:avLst>
          </a:prstGeom>
          <a:solidFill>
            <a:srgbClr val="EBE2E0"/>
          </a:solidFill>
          <a:ln/>
        </p:spPr>
      </p:sp>
      <p:sp>
        <p:nvSpPr>
          <p:cNvPr id="36" name="Text 34"/>
          <p:cNvSpPr/>
          <p:nvPr/>
        </p:nvSpPr>
        <p:spPr>
          <a:xfrm>
            <a:off x="6357977" y="6025654"/>
            <a:ext cx="2245760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ACADEMIC CAPSTONE PROJECT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48731" y="5983486"/>
            <a:ext cx="1489038" cy="213717"/>
          </a:xfrm>
          <a:prstGeom prst="roundRect">
            <a:avLst>
              <a:gd name="adj" fmla="val 22102"/>
            </a:avLst>
          </a:prstGeom>
          <a:noFill/>
          <a:ln w="6350">
            <a:solidFill>
              <a:srgbClr val="835E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33065" y="6025654"/>
            <a:ext cx="1929955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&amp; MACHINE LEARNING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708014" y="5983486"/>
            <a:ext cx="812284" cy="213717"/>
          </a:xfrm>
          <a:prstGeom prst="roundRect">
            <a:avLst>
              <a:gd name="adj" fmla="val 22102"/>
            </a:avLst>
          </a:prstGeom>
          <a:noFill/>
          <a:ln w="6350">
            <a:solidFill>
              <a:srgbClr val="835E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92348" y="6025654"/>
            <a:ext cx="1253201" cy="12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835E5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NLP-DRIVEN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1780</Words>
  <Application>Microsoft Macintosh PowerPoint</Application>
  <PresentationFormat>Widescreen</PresentationFormat>
  <Paragraphs>231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Open Sans</vt:lpstr>
      <vt:lpstr>Times New Roman</vt:lpstr>
      <vt:lpstr>Open Sans Bold</vt:lpstr>
      <vt:lpstr>Arial</vt:lpstr>
      <vt:lpstr>Twemoji Mozilla</vt:lpstr>
      <vt:lpstr>Crimson Pro Light</vt:lpstr>
      <vt:lpstr>Crimson Pro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Lalam githa vamsiram</cp:lastModifiedBy>
  <cp:revision>4</cp:revision>
  <dcterms:created xsi:type="dcterms:W3CDTF">2026-08-19T06:35:39Z</dcterms:created>
  <dcterms:modified xsi:type="dcterms:W3CDTF">2026-08-31T09:11:07Z</dcterms:modified>
</cp:coreProperties>
</file>